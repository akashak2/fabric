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5952" cy="914400"/>
          </a:xfrm>
        </p:spPr>
        <p:txBody>
          <a:bodyPr/>
          <a:lstStyle/>
          <a:p>
            <a:pPr algn="ctr">
              <a:defRPr sz="2800" b="1">
                <a:solidFill>
                  <a:srgbClr val="111111"/>
                </a:solidFill>
                <a:latin typeface="Arial"/>
              </a:defRPr>
            </a:pPr>
            <a:r>
              <a:rPr sz="2800" b="1">
                <a:solidFill>
                  <a:srgbClr val="111111"/>
                </a:solidFill>
                <a:latin typeface="Arial"/>
              </a:rPr>
              <a:t>Cybersecurity Landscape: Navigating Evolving Threats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1557337"/>
            <a:ext cx="6133315" cy="4729162"/>
          </a:xfrm>
        </p:spPr>
        <p:txBody>
          <a:bodyPr wrap="square">
            <a:noAutofit/>
          </a:bodyPr>
          <a:lstStyle/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A comprehensive overview of current and emerging cyber threats.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Strategic approaches to building robust cyber resilience.</a:t>
            </a:r>
          </a:p>
        </p:txBody>
      </p:sp>
      <p:pic>
        <p:nvPicPr>
          <p:cNvPr id="4" name="Picture 3" descr="slide_0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0565" y="1557337"/>
            <a:ext cx="4626886" cy="269901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5952" cy="914400"/>
          </a:xfrm>
        </p:spPr>
        <p:txBody>
          <a:bodyPr/>
          <a:lstStyle/>
          <a:p>
            <a:pPr algn="ctr">
              <a:defRPr sz="2800" b="1">
                <a:solidFill>
                  <a:srgbClr val="111111"/>
                </a:solidFill>
                <a:latin typeface="Arial"/>
              </a:defRPr>
            </a:pPr>
            <a:r>
              <a:rPr sz="2800" b="1">
                <a:solidFill>
                  <a:srgbClr val="111111"/>
                </a:solidFill>
                <a:latin typeface="Arial"/>
              </a:rPr>
              <a:t>Presentation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1557337"/>
            <a:ext cx="6133315" cy="4729162"/>
          </a:xfrm>
        </p:spPr>
        <p:txBody>
          <a:bodyPr wrap="square">
            <a:noAutofit/>
          </a:bodyPr>
          <a:lstStyle/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Executive Summary: Strategic Imperatives for Cyber Resilience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Understanding the Evolving Threat Landscape and Zero Trust Architecture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Key Trends: AI in Cyber Defense and Incident Response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Case Studies: Real-world applications and lessons learned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Action Plan: Strengthening Your Cyber Posture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5952" cy="914400"/>
          </a:xfrm>
        </p:spPr>
        <p:txBody>
          <a:bodyPr/>
          <a:lstStyle/>
          <a:p>
            <a:pPr algn="ctr">
              <a:defRPr sz="2800" b="1">
                <a:solidFill>
                  <a:srgbClr val="111111"/>
                </a:solidFill>
                <a:latin typeface="Arial"/>
              </a:defRPr>
            </a:pPr>
            <a:r>
              <a:rPr sz="2800" b="1">
                <a:solidFill>
                  <a:srgbClr val="111111"/>
                </a:solidFill>
                <a:latin typeface="Arial"/>
              </a:rPr>
              <a:t>Executive Summary: Strategic Imperatives for Cyber Resilience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1557337"/>
            <a:ext cx="6133315" cy="4729162"/>
          </a:xfrm>
        </p:spPr>
        <p:txBody>
          <a:bodyPr wrap="square">
            <a:noAutofit/>
          </a:bodyPr>
          <a:lstStyle/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Situation: Cyber threats are escalating in sophistication and volume, targeting all sectors.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Complication: Traditional perimeter defenses are insufficient against advanced persistent threats and hybrid work…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Answer: Proactive, adaptive strategies like Zero Trust and AI-driven defense are essential for robust cyber resilience.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Takeaway: Organizations must prioritize continuous security posture improvement and rapid incident response…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5952" cy="914400"/>
          </a:xfrm>
        </p:spPr>
        <p:txBody>
          <a:bodyPr/>
          <a:lstStyle/>
          <a:p>
            <a:pPr algn="ctr">
              <a:defRPr sz="2800" b="1">
                <a:solidFill>
                  <a:srgbClr val="111111"/>
                </a:solidFill>
                <a:latin typeface="Arial"/>
              </a:defRPr>
            </a:pPr>
            <a:r>
              <a:rPr sz="2800" b="1">
                <a:solidFill>
                  <a:srgbClr val="111111"/>
                </a:solidFill>
                <a:latin typeface="Arial"/>
              </a:rPr>
              <a:t>Insight: The Evolving Threat Landscape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1557337"/>
            <a:ext cx="6133315" cy="4729162"/>
          </a:xfrm>
        </p:spPr>
        <p:txBody>
          <a:bodyPr wrap="square">
            <a:noAutofit/>
          </a:bodyPr>
          <a:lstStyle/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Definition: Modern threats include sophisticated ransomware, supply chain attacks, and nation-state sponsored cyber…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Business Analogy: Organizations face a constant, multi-front digital siege, requiring layered defenses.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Impact: Breaches lead to significant financial losses, reputational damage, and operational disruption.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Trend: Attackers increasingly leverage automation and AI to scale their malicious campaigns.</a:t>
            </a:r>
          </a:p>
        </p:txBody>
      </p:sp>
      <p:pic>
        <p:nvPicPr>
          <p:cNvPr id="4" name="Picture 3" descr="slide_0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0565" y="1557337"/>
            <a:ext cx="4626886" cy="269901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5952" cy="914400"/>
          </a:xfrm>
        </p:spPr>
        <p:txBody>
          <a:bodyPr/>
          <a:lstStyle/>
          <a:p>
            <a:pPr algn="ctr">
              <a:defRPr sz="2800" b="1">
                <a:solidFill>
                  <a:srgbClr val="111111"/>
                </a:solidFill>
                <a:latin typeface="Arial"/>
              </a:defRPr>
            </a:pPr>
            <a:r>
              <a:rPr sz="2800" b="1">
                <a:solidFill>
                  <a:srgbClr val="111111"/>
                </a:solidFill>
                <a:latin typeface="Arial"/>
              </a:rPr>
              <a:t>Insight: Understanding Modern Attack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1557337"/>
            <a:ext cx="6133315" cy="4729162"/>
          </a:xfrm>
        </p:spPr>
        <p:txBody>
          <a:bodyPr wrap="square">
            <a:noAutofit/>
          </a:bodyPr>
          <a:lstStyle/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Technical Sidebar: Phishing, malware, and zero-day exploits remain prevalent entry points for attackers.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Technical Sidebar: Attackers exploit misconfigurations, unpatched vulnerabilities, and weak credentials.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Diagram: Visualizing the attack kill chain helps identify critical intervention points.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Focus: Understanding these vectors is crucial for developing effective defensive strategies.</a:t>
            </a:r>
          </a:p>
        </p:txBody>
      </p:sp>
      <p:pic>
        <p:nvPicPr>
          <p:cNvPr id="4" name="Picture 3" descr="slide_0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0565" y="1557337"/>
            <a:ext cx="4626886" cy="26990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5952" cy="914400"/>
          </a:xfrm>
        </p:spPr>
        <p:txBody>
          <a:bodyPr/>
          <a:lstStyle/>
          <a:p>
            <a:pPr algn="ctr">
              <a:defRPr sz="2800" b="1">
                <a:solidFill>
                  <a:srgbClr val="111111"/>
                </a:solidFill>
                <a:latin typeface="Arial"/>
              </a:defRPr>
            </a:pPr>
            <a:r>
              <a:rPr sz="2800" b="1">
                <a:solidFill>
                  <a:srgbClr val="111111"/>
                </a:solidFill>
                <a:latin typeface="Arial"/>
              </a:rPr>
              <a:t>Insight: Zero Trust Architecture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1557337"/>
            <a:ext cx="6133315" cy="4729162"/>
          </a:xfrm>
        </p:spPr>
        <p:txBody>
          <a:bodyPr wrap="square">
            <a:noAutofit/>
          </a:bodyPr>
          <a:lstStyle/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Definition: Zero Trust assumes no implicit trust for any user, device, or application, inside or outside the network.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Business Analogy: Treat every access request as if it originates from an untrusted network segment.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Principle: The core tenet is 'never trust, always verify' for all interactions and data access.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Benefit: Reduces the attack surface and limits lateral movement of threats within the environment.</a:t>
            </a:r>
          </a:p>
        </p:txBody>
      </p:sp>
      <p:pic>
        <p:nvPicPr>
          <p:cNvPr id="4" name="Picture 3" descr="slide_0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0565" y="1557337"/>
            <a:ext cx="4626886" cy="269901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5952" cy="914400"/>
          </a:xfrm>
        </p:spPr>
        <p:txBody>
          <a:bodyPr/>
          <a:lstStyle/>
          <a:p>
            <a:pPr algn="ctr">
              <a:defRPr sz="2800" b="1">
                <a:solidFill>
                  <a:srgbClr val="111111"/>
                </a:solidFill>
                <a:latin typeface="Arial"/>
              </a:defRPr>
            </a:pPr>
            <a:r>
              <a:rPr sz="2800" b="1">
                <a:solidFill>
                  <a:srgbClr val="111111"/>
                </a:solidFill>
                <a:latin typeface="Arial"/>
              </a:rPr>
              <a:t>Insight: Implementing Zero Trust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1557337"/>
            <a:ext cx="6133315" cy="4729162"/>
          </a:xfrm>
        </p:spPr>
        <p:txBody>
          <a:bodyPr wrap="square">
            <a:noAutofit/>
          </a:bodyPr>
          <a:lstStyle/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Technical Sidebar: Micro-segmentation isolates workloads and limits lateral movement within networks.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Technical Sidebar: Strong multi-factor authentication (MFA) is mandatory for all access requests.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Diagram: Illustrates the continuous verification process across users, devices, and applications.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Strategy: Requires integrating identity, device posture, and network context for dynamic access control.</a:t>
            </a:r>
          </a:p>
        </p:txBody>
      </p:sp>
      <p:pic>
        <p:nvPicPr>
          <p:cNvPr id="4" name="Picture 3" descr="slide_0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0565" y="1557337"/>
            <a:ext cx="4626886" cy="26990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5952" cy="914400"/>
          </a:xfrm>
        </p:spPr>
        <p:txBody>
          <a:bodyPr/>
          <a:lstStyle/>
          <a:p>
            <a:pPr algn="ctr">
              <a:defRPr sz="2800" b="1">
                <a:solidFill>
                  <a:srgbClr val="111111"/>
                </a:solidFill>
                <a:latin typeface="Arial"/>
              </a:defRPr>
            </a:pPr>
            <a:r>
              <a:rPr sz="2800" b="1">
                <a:solidFill>
                  <a:srgbClr val="111111"/>
                </a:solidFill>
                <a:latin typeface="Arial"/>
              </a:rPr>
              <a:t>Data: Global Cybersecurity Spending Trends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1557337"/>
            <a:ext cx="6133315" cy="4729162"/>
          </a:xfrm>
        </p:spPr>
        <p:txBody>
          <a:bodyPr wrap="square">
            <a:noAutofit/>
          </a:bodyPr>
          <a:lstStyle/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Growth: Global cybersecurity market projected to reach $260 billion by 2027, reflecting increased urgency.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Investment: Significant spending increases in cloud security, threat intelligence, and security automation.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Priorities: Organizations prioritize breach prevention, rapid incident response, and compliance solutions.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Shift: Move from reactive defense to proactive, intelligence-driven security investments.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Source: Market projections indicate continued growth driven by evolving threats and regulatory demands [Gartner, 2023].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5952" cy="914400"/>
          </a:xfrm>
        </p:spPr>
        <p:txBody>
          <a:bodyPr/>
          <a:lstStyle/>
          <a:p>
            <a:pPr algn="ctr">
              <a:defRPr sz="2800" b="1">
                <a:solidFill>
                  <a:srgbClr val="111111"/>
                </a:solidFill>
                <a:latin typeface="Arial"/>
              </a:defRPr>
            </a:pPr>
            <a:r>
              <a:rPr sz="2800" b="1">
                <a:solidFill>
                  <a:srgbClr val="111111"/>
                </a:solidFill>
                <a:latin typeface="Arial"/>
              </a:rPr>
              <a:t>Insight: AI's Role in Cyber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1557337"/>
            <a:ext cx="6133315" cy="4729162"/>
          </a:xfrm>
        </p:spPr>
        <p:txBody>
          <a:bodyPr wrap="square">
            <a:noAutofit/>
          </a:bodyPr>
          <a:lstStyle/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Detection: AI/ML algorithms enhance anomaly detection and predict emerging threats with greater accuracy.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Automation: AI automates routine security tasks, improving response times and reducing human error.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Challenges: Ethical considerations and the potential for AI-powered attacks require careful management.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Future: AI will continue to be a critical enabler for scalable and intelligent cyber defenses.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5952" cy="914400"/>
          </a:xfrm>
        </p:spPr>
        <p:txBody>
          <a:bodyPr/>
          <a:lstStyle/>
          <a:p>
            <a:pPr algn="ctr">
              <a:defRPr sz="2800" b="1">
                <a:solidFill>
                  <a:srgbClr val="111111"/>
                </a:solidFill>
                <a:latin typeface="Arial"/>
              </a:defRPr>
            </a:pPr>
            <a:r>
              <a:rPr sz="2800" b="1">
                <a:solidFill>
                  <a:srgbClr val="111111"/>
                </a:solidFill>
                <a:latin typeface="Arial"/>
              </a:rPr>
              <a:t>Process: Effective Incident Response Lifecycle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1557337"/>
            <a:ext cx="6133315" cy="4729162"/>
          </a:xfrm>
        </p:spPr>
        <p:txBody>
          <a:bodyPr wrap="square">
            <a:noAutofit/>
          </a:bodyPr>
          <a:lstStyle/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Phases: Preparation, identification, containment, eradication, recovery, and post-incident review are critical.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Coordination: Requires cross-functional collaboration, clear communication protocols, and defined roles.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Goal: Minimize impact, restore operations swiftly, and prevent future occurrences through continuous learning.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Readiness: Regular drills and tabletop exercises are essential to maintain response readiness.</a:t>
            </a:r>
          </a:p>
        </p:txBody>
      </p:sp>
      <p:pic>
        <p:nvPicPr>
          <p:cNvPr id="4" name="Picture 3" descr="slide_0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0565" y="1557337"/>
            <a:ext cx="4626886" cy="269901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5952" cy="914400"/>
          </a:xfrm>
        </p:spPr>
        <p:txBody>
          <a:bodyPr/>
          <a:lstStyle/>
          <a:p>
            <a:pPr algn="ctr">
              <a:defRPr sz="2800" b="1">
                <a:solidFill>
                  <a:srgbClr val="111111"/>
                </a:solidFill>
                <a:latin typeface="Arial"/>
              </a:defRPr>
            </a:pPr>
            <a:r>
              <a:rPr sz="2800" b="1">
                <a:solidFill>
                  <a:srgbClr val="111111"/>
                </a:solidFill>
                <a:latin typeface="Arial"/>
              </a:rPr>
              <a:t>Case Study: Securing a Global Enterprise with Zero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1557337"/>
            <a:ext cx="6133315" cy="4729162"/>
          </a:xfrm>
        </p:spPr>
        <p:txBody>
          <a:bodyPr wrap="square">
            <a:noAutofit/>
          </a:bodyPr>
          <a:lstStyle/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Challenge: A multinational corporation faced escalating threats and struggled with legacy perimeter security.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Solution: Implemented a comprehensive Zero Trust model, integrating identity, device, and network controls.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Outcome: Reduced attack surface by 40%, improved compliance posture, and enhanced user experience.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Learning: Phased implementation and strong executive sponsorship were key to success.</a:t>
            </a:r>
          </a:p>
        </p:txBody>
      </p:sp>
      <p:pic>
        <p:nvPicPr>
          <p:cNvPr id="4" name="Picture 3" descr="slide_0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0565" y="1557337"/>
            <a:ext cx="4626886" cy="269901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5952" cy="914400"/>
          </a:xfrm>
        </p:spPr>
        <p:txBody>
          <a:bodyPr/>
          <a:lstStyle/>
          <a:p>
            <a:pPr algn="ctr">
              <a:defRPr sz="2800" b="1">
                <a:solidFill>
                  <a:srgbClr val="111111"/>
                </a:solidFill>
                <a:latin typeface="Arial"/>
              </a:defRPr>
            </a:pPr>
            <a:r>
              <a:rPr sz="2800" b="1">
                <a:solidFill>
                  <a:srgbClr val="111111"/>
                </a:solidFill>
                <a:latin typeface="Arial"/>
              </a:rPr>
              <a:t>Case Study: Lessons from a Supply Chain Attack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1557337"/>
            <a:ext cx="6133315" cy="4729162"/>
          </a:xfrm>
        </p:spPr>
        <p:txBody>
          <a:bodyPr wrap="square">
            <a:noAutofit/>
          </a:bodyPr>
          <a:lstStyle/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Incident: A major software vendor experienced a sophisticated supply chain compromise impacting many customers.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Impact: Highlighted the interconnected risks and the potential for widespread disruption across industries.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Learnings: Emphasized the need for robust vendor risk management and software supply chain security practices.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Mitigation: Enhanced code integrity checks, multi-factor authentication for developers, and network segmentation.</a:t>
            </a:r>
          </a:p>
        </p:txBody>
      </p:sp>
      <p:pic>
        <p:nvPicPr>
          <p:cNvPr id="4" name="Picture 3" descr="slide_0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0565" y="1557337"/>
            <a:ext cx="4626886" cy="269901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5952" cy="914400"/>
          </a:xfrm>
        </p:spPr>
        <p:txBody>
          <a:bodyPr/>
          <a:lstStyle/>
          <a:p>
            <a:pPr algn="ctr">
              <a:defRPr sz="2800" b="1">
                <a:solidFill>
                  <a:srgbClr val="111111"/>
                </a:solidFill>
                <a:latin typeface="Arial"/>
              </a:defRPr>
            </a:pPr>
            <a:r>
              <a:rPr sz="2800" b="1">
                <a:solidFill>
                  <a:srgbClr val="111111"/>
                </a:solidFill>
                <a:latin typeface="Arial"/>
              </a:rPr>
              <a:t>Action Plan: Strengthening Your Cyber Posture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1557337"/>
            <a:ext cx="6133315" cy="4729162"/>
          </a:xfrm>
        </p:spPr>
        <p:txBody>
          <a:bodyPr wrap="square">
            <a:noAutofit/>
          </a:bodyPr>
          <a:lstStyle/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Strategy: Adopt a proactive, risk-based approach to cybersecurity investments and resource allocation.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Technology: Implement advanced threat detection, Zero Trust, and security automation solutions.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People: Foster a security-aware culture through continuous training and awareness programs.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Process: Regularly review and update incident response plans, conducting drills and simulations.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Governance: Establish clear roles, responsibilities, and metrics for cybersecurity performance.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5952" cy="914400"/>
          </a:xfrm>
        </p:spPr>
        <p:txBody>
          <a:bodyPr/>
          <a:lstStyle/>
          <a:p>
            <a:pPr algn="ctr">
              <a:defRPr sz="2800" b="1">
                <a:solidFill>
                  <a:srgbClr val="111111"/>
                </a:solidFill>
                <a:latin typeface="Arial"/>
              </a:defRPr>
            </a:pPr>
            <a:r>
              <a:rPr sz="2800" b="1">
                <a:solidFill>
                  <a:srgbClr val="111111"/>
                </a:solidFill>
                <a:latin typeface="Arial"/>
              </a:rPr>
              <a:t>Conclusion: Building a Resilient Digital Future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1557337"/>
            <a:ext cx="6133315" cy="4729162"/>
          </a:xfrm>
        </p:spPr>
        <p:txBody>
          <a:bodyPr wrap="square">
            <a:noAutofit/>
          </a:bodyPr>
          <a:lstStyle/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Imperative: Cybersecurity is a continuous journey, not a static destination, requiring constant adaptation.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Resilience: Focus on building adaptive defenses and rapid recovery capabilities to minimize disruption.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Partnership: Collaboration across industries and with government agencies is key to navigating complex threats.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Commitment: A strong cybersecurity posture is fundamental to business continuity and trust in the digital age.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571500"/>
            <a:ext cx="11045952" cy="914400"/>
          </a:xfrm>
        </p:spPr>
        <p:txBody>
          <a:bodyPr/>
          <a:lstStyle/>
          <a:p>
            <a:pPr algn="ctr">
              <a:defRPr sz="2800" b="1">
                <a:solidFill>
                  <a:srgbClr val="111111"/>
                </a:solidFill>
                <a:latin typeface="Arial"/>
              </a:defRPr>
            </a:pPr>
            <a:r>
              <a:rPr sz="2800" b="1">
                <a:solidFill>
                  <a:srgbClr val="111111"/>
                </a:solidFill>
                <a:latin typeface="Arial"/>
              </a:rPr>
              <a:t>Appendix: Glossary of Key Terms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1557337"/>
            <a:ext cx="6133315" cy="4729162"/>
          </a:xfrm>
        </p:spPr>
        <p:txBody>
          <a:bodyPr wrap="square">
            <a:noAutofit/>
          </a:bodyPr>
          <a:lstStyle/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Zero Trust: Security model assuming no implicit trust, verifying every access request.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MFA (Multi-Factor Authentication): Requires two or more verification factors for access.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Ransomware: Malware that encrypts data, demanding payment for decryption.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SOC (Security Operations Center): Centralized unit handling security incidents.</a:t>
            </a:r>
          </a:p>
          <a:p>
            <a:pPr algn="l">
              <a:defRPr sz="1600">
                <a:solidFill>
                  <a:srgbClr val="111111"/>
                </a:solidFill>
                <a:latin typeface="Arial"/>
              </a:defRPr>
            </a:pPr>
            <a:r>
              <a:rPr sz="1600">
                <a:solidFill>
                  <a:srgbClr val="111111"/>
                </a:solidFill>
                <a:latin typeface="Arial"/>
              </a:rPr>
              <a:t>SIEM (Security Information and Event Management): System for collecting and analyzing security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